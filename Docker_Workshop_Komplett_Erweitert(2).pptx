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88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Docker Workshop – Komplett &amp; Erweitert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Docker • Compose • Persistenz • Dockerfile • Kubernetes • OpenShift • AKS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Einführung &amp; Grundlagen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Warum läuft Software nicht überall gleich?</a:t>
            </a:r>
          </a:p>
          <a:p>
            <a:r>
              <a:t>Reproduzierbarkeit von Umgebungen</a:t>
            </a:r>
          </a:p>
          <a:p>
            <a:r>
              <a:t>Was ist Containerisierung?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Probleme klassischer Installationen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Unterschiedliche</a:t>
            </a:r>
            <a:r>
              <a:rPr dirty="0"/>
              <a:t> </a:t>
            </a:r>
            <a:r>
              <a:rPr dirty="0" err="1"/>
              <a:t>Versionen</a:t>
            </a:r>
            <a:endParaRPr dirty="0"/>
          </a:p>
          <a:p>
            <a:r>
              <a:rPr dirty="0" err="1"/>
              <a:t>Abhängigkeiten</a:t>
            </a:r>
            <a:endParaRPr dirty="0"/>
          </a:p>
          <a:p>
            <a:r>
              <a:rPr dirty="0" err="1"/>
              <a:t>Konflikte</a:t>
            </a:r>
            <a:r>
              <a:rPr dirty="0"/>
              <a:t> </a:t>
            </a:r>
            <a:r>
              <a:rPr dirty="0" err="1"/>
              <a:t>zwischen</a:t>
            </a:r>
            <a:r>
              <a:rPr dirty="0"/>
              <a:t> </a:t>
            </a:r>
            <a:r>
              <a:rPr dirty="0" err="1"/>
              <a:t>Systemen</a:t>
            </a:r>
            <a:endParaRPr dirty="0"/>
          </a:p>
          <a:p>
            <a:r>
              <a:rPr dirty="0"/>
              <a:t>→ Container </a:t>
            </a:r>
            <a:r>
              <a:rPr dirty="0" err="1"/>
              <a:t>lösen</a:t>
            </a:r>
            <a:r>
              <a:rPr dirty="0"/>
              <a:t> das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Container vs. VM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VM: komplettes OS, schwer</a:t>
            </a:r>
          </a:p>
          <a:p>
            <a:r>
              <a:t>Container: teilen Kernel, leicht</a:t>
            </a:r>
          </a:p>
          <a:p>
            <a:r>
              <a:t>Starten in Millisekunden</a:t>
            </a:r>
          </a:p>
        </p:txBody>
      </p:sp>
      <p:pic>
        <p:nvPicPr>
          <p:cNvPr id="5" name="Grafik 4" descr="Ein Bild, das Text, Screenshot, Computersymbol, Software enthält.&#10;&#10;KI-generierte Inhalte können fehlerhaft sein.">
            <a:extLst>
              <a:ext uri="{FF2B5EF4-FFF2-40B4-BE49-F238E27FC236}">
                <a16:creationId xmlns:a16="http://schemas.microsoft.com/office/drawing/2014/main" id="{5AB59001-D0D6-5E4C-62F9-5F762926DD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0740" y="3357562"/>
            <a:ext cx="5316127" cy="299032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Docker Architektur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Docker Daemon</a:t>
            </a:r>
          </a:p>
          <a:p>
            <a:r>
              <a:rPr dirty="0"/>
              <a:t>Images</a:t>
            </a:r>
          </a:p>
          <a:p>
            <a:r>
              <a:rPr dirty="0"/>
              <a:t>Container</a:t>
            </a:r>
          </a:p>
          <a:p>
            <a:r>
              <a:rPr dirty="0"/>
              <a:t>Registries </a:t>
            </a:r>
            <a:br>
              <a:rPr lang="de-DE" dirty="0"/>
            </a:br>
            <a:r>
              <a:rPr dirty="0"/>
              <a:t>(Docker Hub)</a:t>
            </a:r>
          </a:p>
        </p:txBody>
      </p:sp>
      <p:pic>
        <p:nvPicPr>
          <p:cNvPr id="5" name="Grafik 4" descr="Ein Bild, das Text, Screenshot enthält.&#10;&#10;KI-generierte Inhalte können fehlerhaft sein.">
            <a:extLst>
              <a:ext uri="{FF2B5EF4-FFF2-40B4-BE49-F238E27FC236}">
                <a16:creationId xmlns:a16="http://schemas.microsoft.com/office/drawing/2014/main" id="{E4C8E5AB-BA85-5729-358F-FA09088CBE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6332" y="1698096"/>
            <a:ext cx="4428067" cy="442806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Docker prüfen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docker version</a:t>
            </a:r>
          </a:p>
          <a:p>
            <a:r>
              <a:t>docker info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Hello-World starten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docker run hello-world</a:t>
            </a:r>
          </a:p>
          <a:p>
            <a:r>
              <a:t>Was passiert? Woher kommt Image?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Interaktiver Container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docker run -it ubuntu bash</a:t>
            </a:r>
          </a:p>
          <a:p>
            <a:r>
              <a:t>ls /</a:t>
            </a:r>
          </a:p>
          <a:p>
            <a:r>
              <a:t>apt update</a:t>
            </a:r>
          </a:p>
          <a:p>
            <a:r>
              <a:t>exit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Container verstehen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docker ps</a:t>
            </a:r>
          </a:p>
          <a:p>
            <a:r>
              <a:t>docker ps -a</a:t>
            </a:r>
          </a:p>
          <a:p>
            <a:r>
              <a:t>docker images</a:t>
            </a:r>
          </a:p>
          <a:p>
            <a:r>
              <a:t>Persistenz vs. Flüchtigkeit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NGINX starten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docker run -d -p 8080:80 nginx</a:t>
            </a:r>
          </a:p>
          <a:p>
            <a:r>
              <a:t>Browser: http://localhost:8080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Parameter erklären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-d: detached mode</a:t>
            </a:r>
          </a:p>
          <a:p>
            <a:r>
              <a:t>-p: Portmapping</a:t>
            </a:r>
          </a:p>
          <a:p>
            <a:r>
              <a:t>Netzwerk: Host ↔ Container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Container untersuchen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docker logs &lt;id&gt;</a:t>
            </a:r>
          </a:p>
          <a:p>
            <a:r>
              <a:t>docker exec -it &lt;id&gt; bash</a:t>
            </a:r>
          </a:p>
          <a:p>
            <a:r>
              <a:t>HTML Pfad: /usr/share/nginx/html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Warum Persistenz?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Container löschen → Daten weg</a:t>
            </a:r>
          </a:p>
          <a:p>
            <a:r>
              <a:t>Benötigt: externe Ablage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Volume Beispiel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docker run -d -p 8080:80 \</a:t>
            </a:r>
          </a:p>
          <a:p>
            <a:r>
              <a:t> -v ~/webdata:/usr/share/nginx/html \</a:t>
            </a:r>
          </a:p>
          <a:p>
            <a:r>
              <a:t> nginx</a:t>
            </a:r>
          </a:p>
        </p:txBody>
      </p:sp>
      <p:pic>
        <p:nvPicPr>
          <p:cNvPr id="5" name="Grafik 4" descr="Ein Bild, das Text, Screenshot, Schrift, Reihe enthält.&#10;&#10;KI-generierte Inhalte können fehlerhaft sein.">
            <a:extLst>
              <a:ext uri="{FF2B5EF4-FFF2-40B4-BE49-F238E27FC236}">
                <a16:creationId xmlns:a16="http://schemas.microsoft.com/office/drawing/2014/main" id="{DB3089A6-5238-B6D3-EBC5-0F831129B4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3966" y="3525308"/>
            <a:ext cx="4771957" cy="224049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Bind Mount vs Volume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Bind: Host-Pfad → Container</a:t>
            </a:r>
          </a:p>
          <a:p>
            <a:r>
              <a:t>Volume: Docker verwaltet Daten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Dockerfile erstellen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mkdir meinimage</a:t>
            </a:r>
          </a:p>
          <a:p>
            <a:r>
              <a:t>cd meinimage</a:t>
            </a:r>
          </a:p>
          <a:p>
            <a:r>
              <a:t>Dockerfile anlegen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Dockerfile</a:t>
            </a:r>
            <a:r>
              <a:rPr dirty="0"/>
              <a:t> </a:t>
            </a:r>
            <a:r>
              <a:rPr dirty="0" err="1"/>
              <a:t>Beispiel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FROM nginx</a:t>
            </a:r>
          </a:p>
          <a:p>
            <a:pPr marL="0" indent="0">
              <a:buNone/>
            </a:pPr>
            <a:r>
              <a:rPr dirty="0"/>
              <a:t>COPY index.html /</a:t>
            </a:r>
            <a:r>
              <a:rPr dirty="0" err="1"/>
              <a:t>usr</a:t>
            </a:r>
            <a:r>
              <a:rPr dirty="0"/>
              <a:t>/share/nginx/html/index.html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Image bauen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docker build -t </a:t>
            </a:r>
            <a:r>
              <a:rPr dirty="0" err="1"/>
              <a:t>mein</a:t>
            </a:r>
            <a:r>
              <a:rPr dirty="0"/>
              <a:t>-nginx</a:t>
            </a:r>
            <a:r>
              <a:rPr lang="de-DE" dirty="0"/>
              <a:t>:v1.0</a:t>
            </a:r>
            <a:r>
              <a:rPr dirty="0"/>
              <a:t> 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Container starten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docker run -d -p 8081:80 mein-nginx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Layer Prinzip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docker history mein-nginx</a:t>
            </a:r>
          </a:p>
          <a:p>
            <a:r>
              <a:t>Caching verstehen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B4DBE-BF04-FA06-BC74-92DC98F61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3A23F-5E00-E7DE-6CD3-88DC5DE55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Konzeptvergleich</a:t>
            </a:r>
            <a:endParaRPr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1B81197C-92F1-FDED-4CB7-DF4B3D28BBCC}"/>
              </a:ext>
            </a:extLst>
          </p:cNvPr>
          <p:cNvSpPr/>
          <p:nvPr/>
        </p:nvSpPr>
        <p:spPr>
          <a:xfrm>
            <a:off x="1032933" y="1600199"/>
            <a:ext cx="1794934" cy="197273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nginx</a:t>
            </a:r>
            <a:endParaRPr lang="de-DE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E68AE38C-8350-B348-E860-7A8E85B100FA}"/>
              </a:ext>
            </a:extLst>
          </p:cNvPr>
          <p:cNvSpPr/>
          <p:nvPr/>
        </p:nvSpPr>
        <p:spPr>
          <a:xfrm>
            <a:off x="6214533" y="1600199"/>
            <a:ext cx="1794934" cy="197273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mein-</a:t>
            </a:r>
            <a:r>
              <a:rPr lang="de-DE" dirty="0" err="1"/>
              <a:t>nginx</a:t>
            </a:r>
            <a:endParaRPr lang="de-DE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A66C7FB7-7847-B4C6-F513-A492D0E5684F}"/>
              </a:ext>
            </a:extLst>
          </p:cNvPr>
          <p:cNvSpPr/>
          <p:nvPr/>
        </p:nvSpPr>
        <p:spPr>
          <a:xfrm>
            <a:off x="1291167" y="3445933"/>
            <a:ext cx="1278466" cy="508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Index.html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C996049-5F1C-18E7-A83D-0BB78E0B61DF}"/>
              </a:ext>
            </a:extLst>
          </p:cNvPr>
          <p:cNvSpPr/>
          <p:nvPr/>
        </p:nvSpPr>
        <p:spPr>
          <a:xfrm>
            <a:off x="6472767" y="2861733"/>
            <a:ext cx="1278466" cy="508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Index.html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6F1C7F11-9EF2-AAB4-1BE4-BE15059784DC}"/>
              </a:ext>
            </a:extLst>
          </p:cNvPr>
          <p:cNvSpPr txBox="1"/>
          <p:nvPr/>
        </p:nvSpPr>
        <p:spPr>
          <a:xfrm>
            <a:off x="4800600" y="4401655"/>
            <a:ext cx="421115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Base-Image + Content in einem Package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Änderungen nur über neues Image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Kein Volume-Mount notwendig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Content-Sicherung in Image-Registry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Gut geeignet für: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 err="1"/>
              <a:t>Staging</a:t>
            </a:r>
            <a:r>
              <a:rPr lang="de-DE" dirty="0"/>
              <a:t>-Prozess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CCB78D10-0095-A798-8DC1-7A4BC56D3EE3}"/>
              </a:ext>
            </a:extLst>
          </p:cNvPr>
          <p:cNvSpPr txBox="1"/>
          <p:nvPr/>
        </p:nvSpPr>
        <p:spPr>
          <a:xfrm>
            <a:off x="132247" y="4401655"/>
            <a:ext cx="427604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Content-Pflege über Volume über Host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Trennung von Image und Content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Content muss separat gesichert werden!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Gut geeignet für: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/>
              <a:t>Single-Server-Instanzen (z.B. Home)</a:t>
            </a:r>
          </a:p>
        </p:txBody>
      </p:sp>
    </p:spTree>
    <p:extLst>
      <p:ext uri="{BB962C8B-B14F-4D97-AF65-F5344CB8AC3E}">
        <p14:creationId xmlns:p14="http://schemas.microsoft.com/office/powerpoint/2010/main" val="27364840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Warum Docker Compose?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Mehrere Container orchestrieren</a:t>
            </a:r>
          </a:p>
          <a:p>
            <a:r>
              <a:t>Eine Datei = gesamtes Setup</a:t>
            </a:r>
          </a:p>
          <a:p>
            <a:r>
              <a:t>Ein Startbefehl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docker-</a:t>
            </a:r>
            <a:r>
              <a:rPr dirty="0" err="1"/>
              <a:t>compose.yaml</a:t>
            </a:r>
            <a:r>
              <a:rPr dirty="0"/>
              <a:t> </a:t>
            </a:r>
            <a:r>
              <a:rPr dirty="0" err="1"/>
              <a:t>Beispiel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dirty="0">
                <a:latin typeface="72 Monospace" panose="020B0509030603020204" pitchFamily="49" charset="0"/>
                <a:cs typeface="72 Monospace" panose="020B0509030603020204" pitchFamily="49" charset="0"/>
              </a:rPr>
              <a:t>version: '3.8'</a:t>
            </a:r>
          </a:p>
          <a:p>
            <a:pPr marL="0" indent="0">
              <a:buNone/>
            </a:pPr>
            <a:r>
              <a:rPr dirty="0">
                <a:latin typeface="72 Monospace" panose="020B0509030603020204" pitchFamily="49" charset="0"/>
                <a:cs typeface="72 Monospace" panose="020B0509030603020204" pitchFamily="49" charset="0"/>
              </a:rPr>
              <a:t>services:</a:t>
            </a:r>
          </a:p>
          <a:p>
            <a:pPr marL="0" indent="0">
              <a:buNone/>
            </a:pPr>
            <a:r>
              <a:rPr dirty="0">
                <a:latin typeface="72 Monospace" panose="020B0509030603020204" pitchFamily="49" charset="0"/>
                <a:cs typeface="72 Monospace" panose="020B0509030603020204" pitchFamily="49" charset="0"/>
              </a:rPr>
              <a:t>  web:</a:t>
            </a:r>
          </a:p>
          <a:p>
            <a:pPr marL="0" indent="0">
              <a:buNone/>
            </a:pPr>
            <a:r>
              <a:rPr dirty="0">
                <a:latin typeface="72 Monospace" panose="020B0509030603020204" pitchFamily="49" charset="0"/>
                <a:cs typeface="72 Monospace" panose="020B0509030603020204" pitchFamily="49" charset="0"/>
              </a:rPr>
              <a:t>    image: nginx</a:t>
            </a:r>
            <a:r>
              <a:rPr lang="de-DE" dirty="0">
                <a:latin typeface="72 Monospace" panose="020B0509030603020204" pitchFamily="49" charset="0"/>
                <a:cs typeface="72 Monospace" panose="020B0509030603020204" pitchFamily="49" charset="0"/>
              </a:rPr>
              <a:t>:</a:t>
            </a:r>
            <a:r>
              <a:rPr lang="de-DE" dirty="0" err="1">
                <a:latin typeface="72 Monospace" panose="020B0509030603020204" pitchFamily="49" charset="0"/>
                <a:cs typeface="72 Monospace" panose="020B0509030603020204" pitchFamily="49" charset="0"/>
              </a:rPr>
              <a:t>latest</a:t>
            </a:r>
            <a:endParaRPr dirty="0">
              <a:latin typeface="72 Monospace" panose="020B0509030603020204" pitchFamily="49" charset="0"/>
              <a:cs typeface="72 Monospace" panose="020B0509030603020204" pitchFamily="49" charset="0"/>
            </a:endParaRPr>
          </a:p>
          <a:p>
            <a:pPr marL="0" indent="0">
              <a:buNone/>
            </a:pPr>
            <a:r>
              <a:rPr dirty="0">
                <a:latin typeface="72 Monospace" panose="020B0509030603020204" pitchFamily="49" charset="0"/>
                <a:cs typeface="72 Monospace" panose="020B0509030603020204" pitchFamily="49" charset="0"/>
              </a:rPr>
              <a:t>    ports:</a:t>
            </a:r>
          </a:p>
          <a:p>
            <a:pPr marL="0" indent="0">
              <a:buNone/>
            </a:pPr>
            <a:r>
              <a:rPr dirty="0">
                <a:latin typeface="72 Monospace" panose="020B0509030603020204" pitchFamily="49" charset="0"/>
                <a:cs typeface="72 Monospace" panose="020B0509030603020204" pitchFamily="49" charset="0"/>
              </a:rPr>
              <a:t>      - '8080:80'</a:t>
            </a:r>
          </a:p>
          <a:p>
            <a:pPr marL="0" indent="0">
              <a:buNone/>
            </a:pPr>
            <a:r>
              <a:rPr dirty="0">
                <a:latin typeface="72 Monospace" panose="020B0509030603020204" pitchFamily="49" charset="0"/>
                <a:cs typeface="72 Monospace" panose="020B0509030603020204" pitchFamily="49" charset="0"/>
              </a:rPr>
              <a:t>  </a:t>
            </a:r>
            <a:r>
              <a:rPr dirty="0" err="1">
                <a:latin typeface="72 Monospace" panose="020B0509030603020204" pitchFamily="49" charset="0"/>
                <a:cs typeface="72 Monospace" panose="020B0509030603020204" pitchFamily="49" charset="0"/>
              </a:rPr>
              <a:t>db</a:t>
            </a:r>
            <a:r>
              <a:rPr dirty="0">
                <a:latin typeface="72 Monospace" panose="020B0509030603020204" pitchFamily="49" charset="0"/>
                <a:cs typeface="72 Monospace" panose="020B0509030603020204" pitchFamily="49" charset="0"/>
              </a:rPr>
              <a:t>:</a:t>
            </a:r>
          </a:p>
          <a:p>
            <a:pPr marL="0" indent="0">
              <a:buNone/>
            </a:pPr>
            <a:r>
              <a:rPr dirty="0">
                <a:latin typeface="72 Monospace" panose="020B0509030603020204" pitchFamily="49" charset="0"/>
                <a:cs typeface="72 Monospace" panose="020B0509030603020204" pitchFamily="49" charset="0"/>
              </a:rPr>
              <a:t>    image: </a:t>
            </a:r>
            <a:r>
              <a:rPr dirty="0" err="1">
                <a:latin typeface="72 Monospace" panose="020B0509030603020204" pitchFamily="49" charset="0"/>
                <a:cs typeface="72 Monospace" panose="020B0509030603020204" pitchFamily="49" charset="0"/>
              </a:rPr>
              <a:t>mysql</a:t>
            </a:r>
            <a:r>
              <a:rPr lang="de-DE" dirty="0">
                <a:latin typeface="72 Monospace" panose="020B0509030603020204" pitchFamily="49" charset="0"/>
                <a:cs typeface="72 Monospace" panose="020B0509030603020204" pitchFamily="49" charset="0"/>
              </a:rPr>
              <a:t>:5.7</a:t>
            </a:r>
          </a:p>
          <a:p>
            <a:pPr marL="0" indent="0">
              <a:buNone/>
            </a:pPr>
            <a:r>
              <a:rPr lang="de-DE" dirty="0">
                <a:latin typeface="72 Monospace" panose="020B0509030603020204" pitchFamily="49" charset="0"/>
                <a:cs typeface="72 Monospace" panose="020B0509030603020204" pitchFamily="49" charset="0"/>
              </a:rPr>
              <a:t>    </a:t>
            </a:r>
            <a:r>
              <a:rPr lang="de-DE" dirty="0" err="1">
                <a:latin typeface="72 Monospace" panose="020B0509030603020204" pitchFamily="49" charset="0"/>
                <a:cs typeface="72 Monospace" panose="020B0509030603020204" pitchFamily="49" charset="0"/>
              </a:rPr>
              <a:t>container_name</a:t>
            </a:r>
            <a:r>
              <a:rPr lang="de-DE" dirty="0">
                <a:latin typeface="72 Monospace" panose="020B0509030603020204" pitchFamily="49" charset="0"/>
                <a:cs typeface="72 Monospace" panose="020B0509030603020204" pitchFamily="49" charset="0"/>
              </a:rPr>
              <a:t>: </a:t>
            </a:r>
            <a:r>
              <a:rPr lang="de-DE" dirty="0" err="1">
                <a:latin typeface="72 Monospace" panose="020B0509030603020204" pitchFamily="49" charset="0"/>
                <a:cs typeface="72 Monospace" panose="020B0509030603020204" pitchFamily="49" charset="0"/>
              </a:rPr>
              <a:t>mysql</a:t>
            </a:r>
            <a:endParaRPr lang="de-DE" dirty="0">
              <a:latin typeface="72 Monospace" panose="020B0509030603020204" pitchFamily="49" charset="0"/>
              <a:cs typeface="72 Monospace" panose="020B0509030603020204" pitchFamily="49" charset="0"/>
            </a:endParaRPr>
          </a:p>
          <a:p>
            <a:pPr marL="0" indent="0">
              <a:buNone/>
            </a:pPr>
            <a:r>
              <a:rPr lang="de-DE" dirty="0">
                <a:latin typeface="72 Monospace" panose="020B0509030603020204" pitchFamily="49" charset="0"/>
                <a:cs typeface="72 Monospace" panose="020B0509030603020204" pitchFamily="49" charset="0"/>
              </a:rPr>
              <a:t>    </a:t>
            </a:r>
            <a:r>
              <a:rPr lang="de-DE" dirty="0" err="1">
                <a:latin typeface="72 Monospace" panose="020B0509030603020204" pitchFamily="49" charset="0"/>
                <a:cs typeface="72 Monospace" panose="020B0509030603020204" pitchFamily="49" charset="0"/>
              </a:rPr>
              <a:t>environment</a:t>
            </a:r>
            <a:r>
              <a:rPr lang="de-DE" dirty="0">
                <a:latin typeface="72 Monospace" panose="020B0509030603020204" pitchFamily="49" charset="0"/>
                <a:cs typeface="72 Monospace" panose="020B0509030603020204" pitchFamily="49" charset="0"/>
              </a:rPr>
              <a:t>:</a:t>
            </a:r>
          </a:p>
          <a:p>
            <a:pPr marL="0" indent="0">
              <a:buNone/>
            </a:pPr>
            <a:r>
              <a:rPr lang="de-DE" dirty="0">
                <a:latin typeface="72 Monospace" panose="020B0509030603020204" pitchFamily="49" charset="0"/>
                <a:cs typeface="72 Monospace" panose="020B0509030603020204" pitchFamily="49" charset="0"/>
              </a:rPr>
              <a:t>      - MYSQL_ROOT_PASSWORD: '12345678‘</a:t>
            </a:r>
          </a:p>
          <a:p>
            <a:pPr marL="0" indent="0">
              <a:buNone/>
            </a:pPr>
            <a:r>
              <a:rPr lang="de-DE" dirty="0">
                <a:latin typeface="72 Monospace" panose="020B0509030603020204" pitchFamily="49" charset="0"/>
                <a:cs typeface="72 Monospace" panose="020B0509030603020204" pitchFamily="49" charset="0"/>
              </a:rPr>
              <a:t>    </a:t>
            </a:r>
            <a:r>
              <a:rPr lang="de-DE" dirty="0" err="1">
                <a:latin typeface="72 Monospace" panose="020B0509030603020204" pitchFamily="49" charset="0"/>
                <a:cs typeface="72 Monospace" panose="020B0509030603020204" pitchFamily="49" charset="0"/>
              </a:rPr>
              <a:t>volumes</a:t>
            </a:r>
            <a:r>
              <a:rPr lang="de-DE" dirty="0">
                <a:latin typeface="72 Monospace" panose="020B0509030603020204" pitchFamily="49" charset="0"/>
                <a:cs typeface="72 Monospace" panose="020B0509030603020204" pitchFamily="49" charset="0"/>
              </a:rPr>
              <a:t>:</a:t>
            </a:r>
          </a:p>
          <a:p>
            <a:pPr marL="0" indent="0">
              <a:buNone/>
            </a:pPr>
            <a:r>
              <a:rPr lang="de-DE" dirty="0">
                <a:latin typeface="72 Monospace" panose="020B0509030603020204" pitchFamily="49" charset="0"/>
                <a:cs typeface="72 Monospace" panose="020B0509030603020204" pitchFamily="49" charset="0"/>
              </a:rPr>
              <a:t>      - ./</a:t>
            </a:r>
            <a:r>
              <a:rPr lang="de-DE" dirty="0" err="1">
                <a:latin typeface="72 Monospace" panose="020B0509030603020204" pitchFamily="49" charset="0"/>
                <a:cs typeface="72 Monospace" panose="020B0509030603020204" pitchFamily="49" charset="0"/>
              </a:rPr>
              <a:t>data</a:t>
            </a:r>
            <a:r>
              <a:rPr lang="de-DE" dirty="0">
                <a:latin typeface="72 Monospace" panose="020B0509030603020204" pitchFamily="49" charset="0"/>
                <a:cs typeface="72 Monospace" panose="020B0509030603020204" pitchFamily="49" charset="0"/>
              </a:rPr>
              <a:t>/</a:t>
            </a:r>
            <a:r>
              <a:rPr lang="de-DE" dirty="0" err="1">
                <a:latin typeface="72 Monospace" panose="020B0509030603020204" pitchFamily="49" charset="0"/>
                <a:cs typeface="72 Monospace" panose="020B0509030603020204" pitchFamily="49" charset="0"/>
              </a:rPr>
              <a:t>conf.d</a:t>
            </a:r>
            <a:r>
              <a:rPr lang="de-DE" dirty="0">
                <a:latin typeface="72 Monospace" panose="020B0509030603020204" pitchFamily="49" charset="0"/>
                <a:cs typeface="72 Monospace" panose="020B0509030603020204" pitchFamily="49" charset="0"/>
              </a:rPr>
              <a:t>:/</a:t>
            </a:r>
            <a:r>
              <a:rPr lang="de-DE" dirty="0" err="1">
                <a:latin typeface="72 Monospace" panose="020B0509030603020204" pitchFamily="49" charset="0"/>
                <a:cs typeface="72 Monospace" panose="020B0509030603020204" pitchFamily="49" charset="0"/>
              </a:rPr>
              <a:t>etc</a:t>
            </a:r>
            <a:r>
              <a:rPr lang="de-DE" dirty="0">
                <a:latin typeface="72 Monospace" panose="020B0509030603020204" pitchFamily="49" charset="0"/>
                <a:cs typeface="72 Monospace" panose="020B0509030603020204" pitchFamily="49" charset="0"/>
              </a:rPr>
              <a:t>/</a:t>
            </a:r>
            <a:r>
              <a:rPr lang="de-DE" dirty="0" err="1">
                <a:latin typeface="72 Monospace" panose="020B0509030603020204" pitchFamily="49" charset="0"/>
                <a:cs typeface="72 Monospace" panose="020B0509030603020204" pitchFamily="49" charset="0"/>
              </a:rPr>
              <a:t>mysql</a:t>
            </a:r>
            <a:r>
              <a:rPr lang="de-DE" dirty="0">
                <a:latin typeface="72 Monospace" panose="020B0509030603020204" pitchFamily="49" charset="0"/>
                <a:cs typeface="72 Monospace" panose="020B0509030603020204" pitchFamily="49" charset="0"/>
              </a:rPr>
              <a:t>/</a:t>
            </a:r>
            <a:r>
              <a:rPr lang="de-DE" dirty="0" err="1">
                <a:latin typeface="72 Monospace" panose="020B0509030603020204" pitchFamily="49" charset="0"/>
                <a:cs typeface="72 Monospace" panose="020B0509030603020204" pitchFamily="49" charset="0"/>
              </a:rPr>
              <a:t>conf.d</a:t>
            </a:r>
            <a:endParaRPr lang="de-DE" dirty="0">
              <a:latin typeface="72 Monospace" panose="020B0509030603020204" pitchFamily="49" charset="0"/>
              <a:cs typeface="72 Monospace" panose="020B0509030603020204" pitchFamily="49" charset="0"/>
            </a:endParaRPr>
          </a:p>
          <a:p>
            <a:pPr marL="0" indent="0">
              <a:buNone/>
            </a:pPr>
            <a:r>
              <a:rPr lang="de-DE" dirty="0">
                <a:latin typeface="72 Monospace" panose="020B0509030603020204" pitchFamily="49" charset="0"/>
                <a:cs typeface="72 Monospace" panose="020B0509030603020204" pitchFamily="49" charset="0"/>
              </a:rPr>
              <a:t>      - ./</a:t>
            </a:r>
            <a:r>
              <a:rPr lang="de-DE" dirty="0" err="1">
                <a:latin typeface="72 Monospace" panose="020B0509030603020204" pitchFamily="49" charset="0"/>
                <a:cs typeface="72 Monospace" panose="020B0509030603020204" pitchFamily="49" charset="0"/>
              </a:rPr>
              <a:t>data</a:t>
            </a:r>
            <a:r>
              <a:rPr lang="de-DE" dirty="0">
                <a:latin typeface="72 Monospace" panose="020B0509030603020204" pitchFamily="49" charset="0"/>
                <a:cs typeface="72 Monospace" panose="020B0509030603020204" pitchFamily="49" charset="0"/>
              </a:rPr>
              <a:t>/logs:/logs</a:t>
            </a:r>
          </a:p>
          <a:p>
            <a:pPr marL="0" indent="0">
              <a:buNone/>
            </a:pPr>
            <a:r>
              <a:rPr lang="de-DE" dirty="0">
                <a:latin typeface="72 Monospace" panose="020B0509030603020204" pitchFamily="49" charset="0"/>
                <a:cs typeface="72 Monospace" panose="020B0509030603020204" pitchFamily="49" charset="0"/>
              </a:rPr>
              <a:t>      - /</a:t>
            </a:r>
            <a:r>
              <a:rPr lang="de-DE" dirty="0" err="1">
                <a:latin typeface="72 Monospace" panose="020B0509030603020204" pitchFamily="49" charset="0"/>
                <a:cs typeface="72 Monospace" panose="020B0509030603020204" pitchFamily="49" charset="0"/>
              </a:rPr>
              <a:t>usr</a:t>
            </a:r>
            <a:r>
              <a:rPr lang="de-DE" dirty="0">
                <a:latin typeface="72 Monospace" panose="020B0509030603020204" pitchFamily="49" charset="0"/>
                <a:cs typeface="72 Monospace" panose="020B0509030603020204" pitchFamily="49" charset="0"/>
              </a:rPr>
              <a:t>/</a:t>
            </a:r>
            <a:r>
              <a:rPr lang="de-DE" dirty="0" err="1">
                <a:latin typeface="72 Monospace" panose="020B0509030603020204" pitchFamily="49" charset="0"/>
                <a:cs typeface="72 Monospace" panose="020B0509030603020204" pitchFamily="49" charset="0"/>
              </a:rPr>
              <a:t>local</a:t>
            </a:r>
            <a:r>
              <a:rPr lang="de-DE" dirty="0">
                <a:latin typeface="72 Monospace" panose="020B0509030603020204" pitchFamily="49" charset="0"/>
                <a:cs typeface="72 Monospace" panose="020B0509030603020204" pitchFamily="49" charset="0"/>
              </a:rPr>
              <a:t>/</a:t>
            </a:r>
            <a:r>
              <a:rPr lang="de-DE" dirty="0" err="1">
                <a:latin typeface="72 Monospace" panose="020B0509030603020204" pitchFamily="49" charset="0"/>
                <a:cs typeface="72 Monospace" panose="020B0509030603020204" pitchFamily="49" charset="0"/>
              </a:rPr>
              <a:t>var</a:t>
            </a:r>
            <a:r>
              <a:rPr lang="de-DE" dirty="0">
                <a:latin typeface="72 Monospace" panose="020B0509030603020204" pitchFamily="49" charset="0"/>
                <a:cs typeface="72 Monospace" panose="020B0509030603020204" pitchFamily="49" charset="0"/>
              </a:rPr>
              <a:t>/</a:t>
            </a:r>
            <a:r>
              <a:rPr lang="de-DE" dirty="0" err="1">
                <a:latin typeface="72 Monospace" panose="020B0509030603020204" pitchFamily="49" charset="0"/>
                <a:cs typeface="72 Monospace" panose="020B0509030603020204" pitchFamily="49" charset="0"/>
              </a:rPr>
              <a:t>mysql</a:t>
            </a:r>
            <a:r>
              <a:rPr lang="de-DE" dirty="0">
                <a:latin typeface="72 Monospace" panose="020B0509030603020204" pitchFamily="49" charset="0"/>
                <a:cs typeface="72 Monospace" panose="020B0509030603020204" pitchFamily="49" charset="0"/>
              </a:rPr>
              <a:t>:/</a:t>
            </a:r>
            <a:r>
              <a:rPr lang="de-DE" dirty="0" err="1">
                <a:latin typeface="72 Monospace" panose="020B0509030603020204" pitchFamily="49" charset="0"/>
                <a:cs typeface="72 Monospace" panose="020B0509030603020204" pitchFamily="49" charset="0"/>
              </a:rPr>
              <a:t>var</a:t>
            </a:r>
            <a:r>
              <a:rPr lang="de-DE" dirty="0">
                <a:latin typeface="72 Monospace" panose="020B0509030603020204" pitchFamily="49" charset="0"/>
                <a:cs typeface="72 Monospace" panose="020B0509030603020204" pitchFamily="49" charset="0"/>
              </a:rPr>
              <a:t>/</a:t>
            </a:r>
            <a:r>
              <a:rPr lang="de-DE" dirty="0" err="1">
                <a:latin typeface="72 Monospace" panose="020B0509030603020204" pitchFamily="49" charset="0"/>
                <a:cs typeface="72 Monospace" panose="020B0509030603020204" pitchFamily="49" charset="0"/>
              </a:rPr>
              <a:t>lib</a:t>
            </a:r>
            <a:r>
              <a:rPr lang="de-DE" dirty="0">
                <a:latin typeface="72 Monospace" panose="020B0509030603020204" pitchFamily="49" charset="0"/>
                <a:cs typeface="72 Monospace" panose="020B0509030603020204" pitchFamily="49" charset="0"/>
              </a:rPr>
              <a:t>/</a:t>
            </a:r>
            <a:r>
              <a:rPr lang="de-DE" dirty="0" err="1">
                <a:latin typeface="72 Monospace" panose="020B0509030603020204" pitchFamily="49" charset="0"/>
                <a:cs typeface="72 Monospace" panose="020B0509030603020204" pitchFamily="49" charset="0"/>
              </a:rPr>
              <a:t>mysql</a:t>
            </a:r>
            <a:endParaRPr dirty="0">
              <a:latin typeface="72 Monospace" panose="020B0509030603020204" pitchFamily="49" charset="0"/>
              <a:cs typeface="72 Monospace" panose="020B0509030603020204" pitchFamily="49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Compose Befehle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docker compose up -d</a:t>
            </a:r>
          </a:p>
          <a:p>
            <a:r>
              <a:rPr dirty="0"/>
              <a:t>docker compose </a:t>
            </a:r>
            <a:r>
              <a:rPr dirty="0" err="1"/>
              <a:t>ps</a:t>
            </a:r>
            <a:endParaRPr dirty="0"/>
          </a:p>
          <a:p>
            <a:r>
              <a:rPr dirty="0"/>
              <a:t>docker compose logs</a:t>
            </a:r>
            <a:r>
              <a:rPr lang="de-DE" dirty="0"/>
              <a:t> -f</a:t>
            </a:r>
          </a:p>
          <a:p>
            <a:r>
              <a:rPr lang="de-DE" dirty="0" err="1"/>
              <a:t>docker</a:t>
            </a:r>
            <a:r>
              <a:rPr lang="de-DE" dirty="0"/>
              <a:t> </a:t>
            </a:r>
            <a:r>
              <a:rPr lang="de-DE" dirty="0" err="1"/>
              <a:t>compose</a:t>
            </a:r>
            <a:r>
              <a:rPr lang="de-DE" dirty="0"/>
              <a:t> down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Was ist Kubernetes?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Orchestrierung von Containern</a:t>
            </a:r>
          </a:p>
          <a:p>
            <a:r>
              <a:t>Skalierung</a:t>
            </a:r>
          </a:p>
          <a:p>
            <a:r>
              <a:t>Selbstheilung</a:t>
            </a:r>
          </a:p>
          <a:p>
            <a:r>
              <a:t>Rolling Updates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K8s Grundobjekte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Pods</a:t>
            </a:r>
          </a:p>
          <a:p>
            <a:r>
              <a:t>Deployments</a:t>
            </a:r>
          </a:p>
          <a:p>
            <a:r>
              <a:t>Services</a:t>
            </a:r>
          </a:p>
          <a:p>
            <a:r>
              <a:t>Namespaces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kubectl Beispiele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kubectl get pods</a:t>
            </a:r>
          </a:p>
          <a:p>
            <a:r>
              <a:t>kubectl get nodes</a:t>
            </a:r>
          </a:p>
          <a:p>
            <a:r>
              <a:t>kubectl describe pod &lt;id&gt;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OpenShift Überblick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 Hat Enterprise Kubernetes</a:t>
            </a:r>
          </a:p>
          <a:p>
            <a:r>
              <a:t>Security by Default</a:t>
            </a:r>
          </a:p>
          <a:p>
            <a:r>
              <a:t>Web Console</a:t>
            </a:r>
          </a:p>
          <a:p>
            <a:r>
              <a:t>Operators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OC CLI Befehle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oc login</a:t>
            </a:r>
          </a:p>
          <a:p>
            <a:r>
              <a:t>oc get pods</a:t>
            </a:r>
          </a:p>
          <a:p>
            <a:r>
              <a:t>oc get projects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Was ist AKS?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Azure Kubernetes Service</a:t>
            </a:r>
          </a:p>
          <a:p>
            <a:r>
              <a:t>Managed Kubernetes</a:t>
            </a:r>
          </a:p>
          <a:p>
            <a:r>
              <a:t>Automatische Updates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AKS Beispiele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az aks create</a:t>
            </a:r>
          </a:p>
          <a:p>
            <a:r>
              <a:t>az aks get-credentials</a:t>
            </a:r>
          </a:p>
          <a:p>
            <a:r>
              <a:t>kubectl get pods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Plattformvergleich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Kubernetes: Open Source</a:t>
            </a:r>
          </a:p>
          <a:p>
            <a:r>
              <a:t>OpenShift: Enterprise</a:t>
            </a:r>
          </a:p>
          <a:p>
            <a:r>
              <a:t>AKS: Cloud Managed Service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Abschluss &amp; Ausblick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Was ist ein Image?</a:t>
            </a:r>
          </a:p>
          <a:p>
            <a:r>
              <a:t>Was ist ein Container?</a:t>
            </a:r>
          </a:p>
          <a:p>
            <a:r>
              <a:t>Wann Docker? Wann Kubernetes?</a:t>
            </a:r>
          </a:p>
          <a:p>
            <a:r>
              <a:t>Ausblick: CI/CD, GitOps, Skalierung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598</Words>
  <Application>Microsoft Office PowerPoint</Application>
  <PresentationFormat>Bildschirmpräsentation (4:3)</PresentationFormat>
  <Paragraphs>152</Paragraphs>
  <Slides>33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33</vt:i4>
      </vt:variant>
    </vt:vector>
  </HeadingPairs>
  <TitlesOfParts>
    <vt:vector size="37" baseType="lpstr">
      <vt:lpstr>72 Monospace</vt:lpstr>
      <vt:lpstr>Arial</vt:lpstr>
      <vt:lpstr>Calibri</vt:lpstr>
      <vt:lpstr>Office Theme</vt:lpstr>
      <vt:lpstr>Docker Workshop – Komplett &amp; Erweitert</vt:lpstr>
      <vt:lpstr>1. Einführung &amp; Grundlagen</vt:lpstr>
      <vt:lpstr>Probleme klassischer Installationen</vt:lpstr>
      <vt:lpstr>Container vs. VM</vt:lpstr>
      <vt:lpstr>Docker Architektur</vt:lpstr>
      <vt:lpstr>Docker prüfen</vt:lpstr>
      <vt:lpstr>Hello-World starten</vt:lpstr>
      <vt:lpstr>Interaktiver Container</vt:lpstr>
      <vt:lpstr>Container verstehen</vt:lpstr>
      <vt:lpstr>NGINX starten</vt:lpstr>
      <vt:lpstr>Parameter erklären</vt:lpstr>
      <vt:lpstr>Container untersuchen</vt:lpstr>
      <vt:lpstr>Warum Persistenz?</vt:lpstr>
      <vt:lpstr>Volume Beispiel</vt:lpstr>
      <vt:lpstr>Bind Mount vs Volume</vt:lpstr>
      <vt:lpstr>Dockerfile erstellen</vt:lpstr>
      <vt:lpstr>Dockerfile Beispiel</vt:lpstr>
      <vt:lpstr>Image bauen</vt:lpstr>
      <vt:lpstr>Container starten</vt:lpstr>
      <vt:lpstr>Layer Prinzip</vt:lpstr>
      <vt:lpstr>Konzeptvergleich</vt:lpstr>
      <vt:lpstr>Warum Docker Compose?</vt:lpstr>
      <vt:lpstr>docker-compose.yaml Beispiel</vt:lpstr>
      <vt:lpstr>Compose Befehle</vt:lpstr>
      <vt:lpstr>Was ist Kubernetes?</vt:lpstr>
      <vt:lpstr>K8s Grundobjekte</vt:lpstr>
      <vt:lpstr>kubectl Beispiele</vt:lpstr>
      <vt:lpstr>OpenShift Überblick</vt:lpstr>
      <vt:lpstr>OC CLI Befehle</vt:lpstr>
      <vt:lpstr>Was ist AKS?</vt:lpstr>
      <vt:lpstr>AKS Beispiele</vt:lpstr>
      <vt:lpstr>Plattformvergleich</vt:lpstr>
      <vt:lpstr>Abschluss &amp; Ausblick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Raum, Benjamin</cp:lastModifiedBy>
  <cp:revision>2</cp:revision>
  <dcterms:created xsi:type="dcterms:W3CDTF">2013-01-27T09:14:16Z</dcterms:created>
  <dcterms:modified xsi:type="dcterms:W3CDTF">2026-02-26T10:26:52Z</dcterms:modified>
  <cp:category/>
</cp:coreProperties>
</file>