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40B210-9177-8411-AECB-8D6D736CD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B1885D8-FFEB-75EF-87FD-4A432FED4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666322-E603-850F-C9B8-859E6853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3E508D-FAD9-B23C-34F6-1ABE0261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FF38BD-768C-D426-DF89-B2917E75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705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D345B-32E2-1673-9FCF-C7BD250B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F6980F-895D-F4D7-8666-BA66539C0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D338DB-42F9-2517-2ECA-79639B09E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8889B-6EEF-E113-57FD-DFAE2E8C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DB6B53-58A7-6155-F375-A51A0171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02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EB0B6D-4C5C-8C83-A28B-D75A74D52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8753F1-3B84-52A0-6C0B-3FC728220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77B1BE-2F97-4450-9942-7FBFD0781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F284A33-EB87-F7D0-25F5-6A42D899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288231-CDE9-670B-C45E-5FA067B4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281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15FC1C-80C3-3DC7-14D5-39E051D7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CBE388-824D-CA9C-59ED-AC2CC38551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125942-AFA6-BB40-0609-120ECFF6C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84F13E-CC7A-6825-819A-4E232F14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EF080D-4FCB-93BB-E823-64C2F585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C131C16-2CFF-1610-67B1-B00A5B38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490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6042C6-02B7-0390-8F03-BED933C4E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6A1941-1F34-4D71-9C39-962A9EC05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617CC42-A8C0-F498-EEA6-0A135C5F3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EC28B39-9CEA-E5E5-E374-21E68B506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7B8824-812C-8A62-C0BA-3C510AA24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9076AB7-8B09-FA0C-08D7-3A0311AC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7DABB14-B477-6161-CEF4-2EC71583B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104A241-7DF8-4749-3C53-FE4C9ED1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890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1D98EB-5E92-CAD3-2DE7-BE683DAB0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AB3E4CB-78DF-964A-F19A-53D5D06B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249DDFC-FEEA-42BE-707A-7CA3ADFB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578DB1E-7322-A017-3231-4F4B2522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142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E3762F4-E169-F327-3B71-32C9F29C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3E34AD-76A1-61DA-1F59-E3B129FE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33B531-640B-7EF9-F898-AD8C55DE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89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64601-0045-0C1A-7192-FB2DFDB7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70C55F-D3D3-9245-3F3C-B4299173D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74731D-275A-AA19-4F45-8667235DA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741D9F-C209-7270-2F81-81141279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1E0E61-BE50-946D-F664-DB24524A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F22B7A-3923-4CE4-6F10-AA6F55C44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425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3BC0B-317B-F861-42C0-556BE60B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8E839C3-DEF8-C967-6107-99E92B80B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FD534A-1881-A241-C2DD-247E1D7766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6C16DFD-992D-CAF9-73E9-65ED78D4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CCD632-A6F3-7D1F-E409-BC25227F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575587-2850-BA21-A7AD-27552FB05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10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EF5FF-CF72-B8BF-13A6-E1643F66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011051-608F-2C9E-28BD-604DE1387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78CC86-BBB6-C8E7-CB1D-8EB14FA6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5399D1-6EE7-A397-6913-61E7C5FF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43DD38-6798-E672-DC30-4D77450E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217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1D45F30-21B3-0ADB-A3AE-33C2C9388D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4668AD4-F746-6167-A0BF-63FFBB0D2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4C989AC-0468-988C-6F52-DB48F1678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CA6252-FF9A-D01D-ABEB-84CA56D8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928A6A-DDBF-C89D-DE7D-DF691622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079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56CD6E-2A53-5981-5257-B61796499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419DF9-B833-E4C9-9625-4E55AE167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4EDF0A-D1A6-F9C0-D98F-E28C184EEB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AB767-6F0A-4B42-8B76-0C401C58AB27}" type="datetimeFigureOut">
              <a:rPr lang="de-DE" smtClean="0"/>
              <a:t>09.06.2026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BB1E4B-2F57-6A45-B620-96A01404A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C37BC0-B7E2-C5C6-F7B5-867BE76C5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9B5EA-0C1C-41F8-8D31-ABF73A9C08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89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aspberrypi.com/software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raw.githubusercontent.com/benjamira/Ausbildung-TB/refs/heads/main/docker-workshop.m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57B3523D-2D6E-BDEC-86C4-7609BFD27DA9}"/>
              </a:ext>
            </a:extLst>
          </p:cNvPr>
          <p:cNvSpPr txBox="1"/>
          <p:nvPr/>
        </p:nvSpPr>
        <p:spPr>
          <a:xfrm>
            <a:off x="3584448" y="2084832"/>
            <a:ext cx="38902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Tag 1: Infrastruktur &amp; </a:t>
            </a:r>
            <a:r>
              <a:rPr lang="de-DE" dirty="0" err="1"/>
              <a:t>Deployment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Linux Basics ab S. 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Raspberry Pi OS installieren &amp; 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Docker &amp; </a:t>
            </a:r>
            <a:r>
              <a:rPr lang="de-DE" dirty="0" err="1"/>
              <a:t>Compose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804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E6DE800-3833-03EE-63B4-C9251A9EC287}"/>
              </a:ext>
            </a:extLst>
          </p:cNvPr>
          <p:cNvSpPr txBox="1"/>
          <p:nvPr/>
        </p:nvSpPr>
        <p:spPr>
          <a:xfrm>
            <a:off x="1874520" y="1443841"/>
            <a:ext cx="774987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Raspberry Pi OS installieren &amp; SSH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Installation Raspberry-Pi-Imager: </a:t>
            </a:r>
            <a:r>
              <a:rPr lang="de-DE" dirty="0">
                <a:hlinkClick r:id="rId2"/>
              </a:rPr>
              <a:t>https://www.raspberrypi.com/software/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Raspberry Pi 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OS: Raspberry Pi OS (</a:t>
            </a:r>
            <a:r>
              <a:rPr lang="de-DE" dirty="0" err="1"/>
              <a:t>other</a:t>
            </a:r>
            <a:r>
              <a:rPr lang="de-DE" dirty="0"/>
              <a:t>)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Raspberry Pi OS Lite (64-Bit) Trixie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Customization</a:t>
            </a:r>
            <a:r>
              <a:rPr lang="de-D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Hostname: </a:t>
            </a:r>
            <a:r>
              <a:rPr lang="de-DE" dirty="0" err="1"/>
              <a:t>pi</a:t>
            </a:r>
            <a:r>
              <a:rPr lang="de-DE" dirty="0"/>
              <a:t>_&lt;</a:t>
            </a:r>
            <a:r>
              <a:rPr lang="de-DE" dirty="0" err="1"/>
              <a:t>name</a:t>
            </a:r>
            <a:r>
              <a:rPr lang="de-DE" dirty="0"/>
              <a:t>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Localisation</a:t>
            </a:r>
            <a:r>
              <a:rPr lang="de-DE" dirty="0"/>
              <a:t>: Europe/Berlin, Keyboard Layout: 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Username: &lt;</a:t>
            </a:r>
            <a:r>
              <a:rPr lang="de-DE" dirty="0" err="1"/>
              <a:t>name</a:t>
            </a:r>
            <a:r>
              <a:rPr lang="de-DE" dirty="0"/>
              <a:t>&gt;, Password: </a:t>
            </a:r>
            <a:r>
              <a:rPr lang="de-DE" dirty="0">
                <a:sym typeface="Wingdings" panose="05000000000000000000" pitchFamily="2" charset="2"/>
              </a:rPr>
              <a:t>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Enable</a:t>
            </a:r>
            <a:r>
              <a:rPr lang="de-DE" dirty="0"/>
              <a:t> SSH, </a:t>
            </a:r>
            <a:r>
              <a:rPr lang="de-DE" dirty="0" err="1"/>
              <a:t>use</a:t>
            </a:r>
            <a:r>
              <a:rPr lang="de-DE" dirty="0"/>
              <a:t> 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key</a:t>
            </a:r>
            <a:r>
              <a:rPr lang="de-DE" dirty="0"/>
              <a:t> </a:t>
            </a:r>
            <a:r>
              <a:rPr lang="de-DE" dirty="0" err="1"/>
              <a:t>authentication</a:t>
            </a:r>
            <a:endParaRPr lang="de-DE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/>
              <a:t>SSH-</a:t>
            </a:r>
            <a:r>
              <a:rPr lang="de-DE" dirty="0" err="1"/>
              <a:t>Keypair</a:t>
            </a:r>
            <a:r>
              <a:rPr lang="de-DE" dirty="0"/>
              <a:t> erstellen, Public Key hinterlegen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Write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Pi mit SD-Karte starten, Ping von Linux-Laptop ausführen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Per SSH verbinden</a:t>
            </a:r>
          </a:p>
        </p:txBody>
      </p:sp>
    </p:spTree>
    <p:extLst>
      <p:ext uri="{BB962C8B-B14F-4D97-AF65-F5344CB8AC3E}">
        <p14:creationId xmlns:p14="http://schemas.microsoft.com/office/powerpoint/2010/main" val="206954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E5F62-61E6-EF22-3AC3-C31CB935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F5B8ABD-3975-0E2E-A686-E8002AB32CC9}"/>
              </a:ext>
            </a:extLst>
          </p:cNvPr>
          <p:cNvSpPr txBox="1"/>
          <p:nvPr/>
        </p:nvSpPr>
        <p:spPr>
          <a:xfrm>
            <a:off x="550809" y="1272552"/>
            <a:ext cx="1044305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Docker &amp; </a:t>
            </a:r>
            <a:r>
              <a:rPr lang="de-DE" dirty="0" err="1"/>
              <a:t>Compose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Wiederholung des Konzepts von Containern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hlinkClick r:id="rId2"/>
              </a:rPr>
              <a:t>https://raw.githubusercontent.com/benjamira/Ausbildung-TB/refs/heads/main/docker-workshop.md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Multi‑Container‑Anwendungen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Container‑Kommunikation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Persistenz mit </a:t>
            </a:r>
            <a:r>
              <a:rPr lang="de-DE" dirty="0" err="1"/>
              <a:t>Volumes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Trennung von Verantwortlichkeiten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Infrastruktur als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einfache Webentwicklung im Container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Grundlagen moderner Webarchitekturen</a:t>
            </a:r>
          </a:p>
        </p:txBody>
      </p:sp>
    </p:spTree>
    <p:extLst>
      <p:ext uri="{BB962C8B-B14F-4D97-AF65-F5344CB8AC3E}">
        <p14:creationId xmlns:p14="http://schemas.microsoft.com/office/powerpoint/2010/main" val="300560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C453A-9CAB-8DB8-71B0-084001D79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C030494A-EE8A-21F6-D16B-3686C76DC5B1}"/>
              </a:ext>
            </a:extLst>
          </p:cNvPr>
          <p:cNvSpPr txBox="1"/>
          <p:nvPr/>
        </p:nvSpPr>
        <p:spPr>
          <a:xfrm>
            <a:off x="838201" y="1037272"/>
            <a:ext cx="396736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Tag 2: Security &amp; Awareness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Juice Shop </a:t>
            </a:r>
            <a:r>
              <a:rPr lang="de-DE" dirty="0" err="1"/>
              <a:t>Deployment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Konzepte von Web-Schwachstellen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Security‑Tools (Diagnose)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Sichere Softwareentwicklung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4CE8CD2E-7431-8B03-E9C4-3A6143991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415519"/>
              </p:ext>
            </p:extLst>
          </p:nvPr>
        </p:nvGraphicFramePr>
        <p:xfrm>
          <a:off x="5803773" y="782606"/>
          <a:ext cx="5476874" cy="2999232"/>
        </p:xfrm>
        <a:graphic>
          <a:graphicData uri="http://schemas.openxmlformats.org/drawingml/2006/table">
            <a:tbl>
              <a:tblPr/>
              <a:tblGrid>
                <a:gridCol w="1609725">
                  <a:extLst>
                    <a:ext uri="{9D8B030D-6E8A-4147-A177-3AD203B41FA5}">
                      <a16:colId xmlns:a16="http://schemas.microsoft.com/office/drawing/2014/main" val="3069244642"/>
                    </a:ext>
                  </a:extLst>
                </a:gridCol>
                <a:gridCol w="3867149">
                  <a:extLst>
                    <a:ext uri="{9D8B030D-6E8A-4147-A177-3AD203B41FA5}">
                      <a16:colId xmlns:a16="http://schemas.microsoft.com/office/drawing/2014/main" val="2069096843"/>
                    </a:ext>
                  </a:extLst>
                </a:gridCol>
              </a:tblGrid>
              <a:tr h="361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Zeit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Thema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955493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0:00 – 0:15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Einführung &amp; Regeln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20727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0:15 – 0:30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Juice Shop erkunden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026428"/>
                  </a:ext>
                </a:extLst>
              </a:tr>
              <a:tr h="3603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0:30 – 1:00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Erste einfache Challenges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45292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1:00 – 1:10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Pause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62508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1:10 – 1:40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Browser-</a:t>
                      </a:r>
                      <a:r>
                        <a:rPr lang="de-DE" dirty="0" err="1">
                          <a:effectLst/>
                        </a:rPr>
                        <a:t>DevTools</a:t>
                      </a:r>
                      <a:r>
                        <a:rPr lang="de-DE" dirty="0">
                          <a:effectLst/>
                        </a:rPr>
                        <a:t> &amp; </a:t>
                      </a:r>
                      <a:r>
                        <a:rPr lang="de-DE" dirty="0" err="1">
                          <a:effectLst/>
                        </a:rPr>
                        <a:t>Requests</a:t>
                      </a:r>
                      <a:endParaRPr lang="de-DE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59987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1:40 – 1:55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Reflexion &amp; sichere Entwicklung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610399"/>
                  </a:ext>
                </a:extLst>
              </a:tr>
              <a:tr h="3617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>
                          <a:effectLst/>
                        </a:rPr>
                        <a:t>1:55 – 2:00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effectLst/>
                        </a:rPr>
                        <a:t>Abschlussquiz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129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2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D705-C04B-BC5B-E58F-A466349A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4EE8F48C-0211-95E9-2537-DF725FFE0EAE}"/>
              </a:ext>
            </a:extLst>
          </p:cNvPr>
          <p:cNvSpPr txBox="1"/>
          <p:nvPr/>
        </p:nvSpPr>
        <p:spPr>
          <a:xfrm>
            <a:off x="3495675" y="250567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Welche Technologien vermutet ihr?</a:t>
            </a:r>
          </a:p>
          <a:p>
            <a:r>
              <a:rPr lang="de-DE" dirty="0"/>
              <a:t>Wo könnten Daten herkommen?</a:t>
            </a:r>
          </a:p>
          <a:p>
            <a:r>
              <a:rPr lang="de-DE" dirty="0"/>
              <a:t>Was passiert wohl beim Login?</a:t>
            </a:r>
          </a:p>
        </p:txBody>
      </p:sp>
    </p:spTree>
    <p:extLst>
      <p:ext uri="{BB962C8B-B14F-4D97-AF65-F5344CB8AC3E}">
        <p14:creationId xmlns:p14="http://schemas.microsoft.com/office/powerpoint/2010/main" val="406875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1C4AE54E702C43841DD5C673E4490C" ma:contentTypeVersion="13" ma:contentTypeDescription="Ein neues Dokument erstellen." ma:contentTypeScope="" ma:versionID="abf5d748b7203cb4c256e343e8a5b31e">
  <xsd:schema xmlns:xsd="http://www.w3.org/2001/XMLSchema" xmlns:xs="http://www.w3.org/2001/XMLSchema" xmlns:p="http://schemas.microsoft.com/office/2006/metadata/properties" xmlns:ns3="c5cd8036-2cd2-4e8e-a126-b9642d6d44a3" xmlns:ns4="d44cf359-b297-46a7-8667-333d131f3125" targetNamespace="http://schemas.microsoft.com/office/2006/metadata/properties" ma:root="true" ma:fieldsID="bb53c6866272c05930ed45ec031398b0" ns3:_="" ns4:_="">
    <xsd:import namespace="c5cd8036-2cd2-4e8e-a126-b9642d6d44a3"/>
    <xsd:import namespace="d44cf359-b297-46a7-8667-333d131f312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cd8036-2cd2-4e8e-a126-b9642d6d44a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4cf359-b297-46a7-8667-333d131f312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5cd8036-2cd2-4e8e-a126-b9642d6d44a3" xsi:nil="true"/>
  </documentManagement>
</p:properties>
</file>

<file path=customXml/itemProps1.xml><?xml version="1.0" encoding="utf-8"?>
<ds:datastoreItem xmlns:ds="http://schemas.openxmlformats.org/officeDocument/2006/customXml" ds:itemID="{5E56D393-A646-4BAD-BA2F-2C85B8CFD1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cd8036-2cd2-4e8e-a126-b9642d6d44a3"/>
    <ds:schemaRef ds:uri="d44cf359-b297-46a7-8667-333d131f31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C92C751-A5B0-4D49-A84D-3358A97E0A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A1D0D8-FCD2-420E-AC69-9A4EEC07A8BC}">
  <ds:schemaRefs>
    <ds:schemaRef ds:uri="http://purl.org/dc/dcmitype/"/>
    <ds:schemaRef ds:uri="http://schemas.microsoft.com/office/2006/metadata/properties"/>
    <ds:schemaRef ds:uri="http://purl.org/dc/elements/1.1/"/>
    <ds:schemaRef ds:uri="c5cd8036-2cd2-4e8e-a126-b9642d6d44a3"/>
    <ds:schemaRef ds:uri="d44cf359-b297-46a7-8667-333d131f31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Breitbild</PresentationFormat>
  <Paragraphs>52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Raum, Benjamin</dc:creator>
  <cp:lastModifiedBy>Raum, Benjamin</cp:lastModifiedBy>
  <cp:revision>2</cp:revision>
  <dcterms:created xsi:type="dcterms:W3CDTF">2026-06-08T10:14:53Z</dcterms:created>
  <dcterms:modified xsi:type="dcterms:W3CDTF">2026-06-11T08:19:05Z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0x010100291C4AE54E702C43841DD5C673E4490C</vt:lpwstr>
  </property>
</Properties>
</file>